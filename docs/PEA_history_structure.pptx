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ประวัติโครงสร้างระบบไฟฟ้าภูมิภาค (PEA)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สรุปโดย ChatGPT | มิถุนายน 2568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ไทม์ไลน์พัฒนาการสำคัญ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2473 – เปิดไฟฟ้าเทศบาลนครปฐม (จุดเริ่มไฟฟ้าต่างจังหวัด)</a:t>
            </a:r>
          </a:p>
          <a:p>
            <a:pPr>
              <a:defRPr sz="1800"/>
            </a:pPr>
            <a:r>
              <a:t>2477 – ยกระดับเป็น 'กองไฟฟ้าภูมิภาค'</a:t>
            </a:r>
          </a:p>
          <a:p>
            <a:pPr>
              <a:defRPr sz="1800"/>
            </a:pPr>
            <a:r>
              <a:t>2497 – จัดตั้งองค์การไฟฟ้าส่วนภูมิภาค (อ.ส.ภ.)</a:t>
            </a:r>
          </a:p>
          <a:p>
            <a:pPr>
              <a:defRPr sz="1800"/>
            </a:pPr>
            <a:r>
              <a:t>28 ก.ย. 2503 – สถาปนา PEA ตาม พ.ร.บ. กฟภ.</a:t>
            </a:r>
          </a:p>
          <a:p>
            <a:pPr>
              <a:defRPr sz="1800"/>
            </a:pPr>
            <a:r>
              <a:t>2510–2520 – โครงการไฟฟ้าเพื่อชนบท (ระบบ 22 kV)</a:t>
            </a:r>
          </a:p>
          <a:p>
            <a:pPr>
              <a:defRPr sz="1800"/>
            </a:pPr>
            <a:r>
              <a:t>2524–2533 – มาตรฐาน 3-เฟส + เชื่อม 115 kV EGAT</a:t>
            </a:r>
          </a:p>
          <a:p>
            <a:pPr>
              <a:defRPr sz="1800"/>
            </a:pPr>
            <a:r>
              <a:t>2540–2555 – ลงทุน SCADA, AMR, GIS</a:t>
            </a:r>
          </a:p>
          <a:p>
            <a:pPr>
              <a:defRPr sz="1800"/>
            </a:pPr>
            <a:r>
              <a:t>2561–ปัจจุบัน – AMI, Underground Cable, EV, Micro-grid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โครงสร้างระบบไฟฟ้าภูมิภาค (ปัจจุบัน)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โรงไฟฟ้า (EGAT + IPP/SPP)</a:t>
            </a:r>
          </a:p>
          <a:p>
            <a:pPr>
              <a:defRPr sz="1400"/>
            </a:pPr>
            <a:r>
              <a:t>        │ 500/230/115 kV</a:t>
            </a:r>
          </a:p>
          <a:p>
            <a:pPr>
              <a:defRPr sz="1400"/>
            </a:pPr>
            <a:r>
              <a:t>        ▼</a:t>
            </a:r>
          </a:p>
          <a:p>
            <a:pPr>
              <a:defRPr sz="1400"/>
            </a:pPr>
            <a:r>
              <a:t>สถานีไฟฟ้าย่อย PEA 115/22 kV  (546 แห่ง)</a:t>
            </a:r>
          </a:p>
          <a:p>
            <a:pPr>
              <a:defRPr sz="1400"/>
            </a:pPr>
            <a:r>
              <a:t>        │</a:t>
            </a:r>
          </a:p>
          <a:p>
            <a:pPr>
              <a:defRPr sz="1400"/>
            </a:pPr>
            <a:r>
              <a:t>ระบบจำหน่ายแรงสูง 22 kV  ≈ 313,000 cct-km</a:t>
            </a:r>
          </a:p>
          <a:p>
            <a:pPr>
              <a:defRPr sz="1400"/>
            </a:pPr>
            <a:r>
              <a:t>        │</a:t>
            </a:r>
          </a:p>
          <a:p>
            <a:pPr>
              <a:defRPr sz="1400"/>
            </a:pPr>
            <a:r>
              <a:t>หม้อแปลง 22/0.4 kV  ≈ 860,000 ลูก</a:t>
            </a:r>
          </a:p>
          <a:p>
            <a:pPr>
              <a:defRPr sz="1400"/>
            </a:pPr>
            <a:r>
              <a:t>        │</a:t>
            </a:r>
          </a:p>
          <a:p>
            <a:pPr>
              <a:defRPr sz="1400"/>
            </a:pPr>
            <a:r>
              <a:t>ระบบแรงต่ำ 230/400 V  ≈ 472,000 cct-km</a:t>
            </a:r>
          </a:p>
          <a:p>
            <a:pPr>
              <a:defRPr sz="1400"/>
            </a:pPr>
            <a:r>
              <a:t>        ▼</a:t>
            </a:r>
          </a:p>
          <a:p>
            <a:pPr>
              <a:defRPr sz="1400"/>
            </a:pPr>
            <a:r>
              <a:t>ผู้ใช้ไฟ 19.1 ล้านราย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สถิติสำคัญ (อัปเดต 2566)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ลูกค้า: 19.13 ล้านราย</a:t>
            </a:r>
          </a:p>
          <a:p>
            <a:pPr>
              <a:defRPr sz="1800"/>
            </a:pPr>
            <a:r>
              <a:t>โหลดสูงสุด (Peak PEA): 34 GW (2566)</a:t>
            </a:r>
          </a:p>
          <a:p>
            <a:pPr>
              <a:defRPr sz="1800"/>
            </a:pPr>
            <a:r>
              <a:t>ความยาวสายจำหน่ายรวม: ~785,000 กม.</a:t>
            </a:r>
          </a:p>
          <a:p>
            <a:pPr>
              <a:defRPr sz="1800"/>
            </a:pPr>
            <a:r>
              <a:t>Substation 115/22 kV: 546 แห่ง</a:t>
            </a:r>
          </a:p>
          <a:p>
            <a:pPr>
              <a:defRPr sz="1800"/>
            </a:pPr>
            <a:r>
              <a:t>เป้าหมาย CO₂: -30% ภายใน 2030, Net Zero 2050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แนวโน้มและทิศทางอนาคต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Digital Utility – AMI, AI วิเคราะห์โหลด, IoT</a:t>
            </a:r>
          </a:p>
          <a:p>
            <a:pPr>
              <a:defRPr sz="1800"/>
            </a:pPr>
            <a:r>
              <a:t>Smart Grid &amp; Micro-grid – รองรับพลังงานหมุนเวียน</a:t>
            </a:r>
          </a:p>
          <a:p>
            <a:pPr>
              <a:defRPr sz="1800"/>
            </a:pPr>
            <a:r>
              <a:t>EV Ecosystem – ติดตั้งหัวชาร์จ PEA Volta 1,700+ จุด</a:t>
            </a:r>
          </a:p>
          <a:p>
            <a:pPr>
              <a:defRPr sz="1800"/>
            </a:pPr>
            <a:r>
              <a:t>Underground Cable – สายลงดินในเขตเมือง 39 โครงการ</a:t>
            </a:r>
          </a:p>
          <a:p>
            <a:pPr>
              <a:defRPr sz="1800"/>
            </a:pPr>
            <a:r>
              <a:t>Green &amp; Circular – รีไซเคิล Solar, รถบริการไฟฟ้า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เอกสารอ้างอิง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รายงานประจำปี PEA 2566</a:t>
            </a:r>
          </a:p>
          <a:p>
            <a:pPr>
              <a:defRPr sz="1800"/>
            </a:pPr>
            <a:r>
              <a:t>พระราชบัญญัติการไฟฟ้าส่วนภูมิภาค พ.ศ. 2503</a:t>
            </a:r>
          </a:p>
          <a:p>
            <a:pPr>
              <a:defRPr sz="1800"/>
            </a:pPr>
            <a:r>
              <a:t>แผนพัฒนา PEA "Utility of the Future" 2023–2030</a:t>
            </a:r>
          </a:p>
          <a:p>
            <a:pPr>
              <a:defRPr sz="1800"/>
            </a:pPr>
            <a:r>
              <a:t>SCADA &amp; AMI Implementation Roadmap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